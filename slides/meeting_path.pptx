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Purple"/>
          <p:cNvSpPr/>
          <p:nvPr/>
        </p:nvSpPr>
        <p:spPr>
          <a:xfrm>
            <a:off x="320040" y="256032"/>
            <a:ext cx="411480" cy="411480"/>
          </a:xfrm>
          <a:prstGeom prst="diamond">
            <a:avLst/>
          </a:prstGeom>
          <a:solidFill>
            <a:srgbClr val="7E3A94"/>
          </a:solidFill>
          <a:ln/>
        </p:spPr>
      </p:sp>
      <p:sp>
        <p:nvSpPr>
          <p:cNvPr id="3" name="LogoOrange"/>
          <p:cNvSpPr/>
          <p:nvPr/>
        </p:nvSpPr>
        <p:spPr>
          <a:xfrm>
            <a:off x="566928" y="429768"/>
            <a:ext cx="256032" cy="256032"/>
          </a:xfrm>
          <a:prstGeom prst="diamond">
            <a:avLst/>
          </a:prstGeom>
          <a:solidFill>
            <a:srgbClr val="F9A93B"/>
          </a:solidFill>
          <a:ln/>
        </p:spPr>
      </p:sp>
      <p:sp>
        <p:nvSpPr>
          <p:cNvPr id="4" name="Title"/>
          <p:cNvSpPr txBox="1"/>
          <p:nvPr/>
        </p:nvSpPr>
        <p:spPr>
          <a:xfrm>
            <a:off x="32004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dirty="0">
                <a:solidFill>
                  <a:srgbClr val="7E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המפגש</a:t>
            </a:r>
            <a:endParaRPr lang="he-IL" sz="3200" dirty="0"/>
          </a:p>
        </p:txBody>
      </p:sp>
      <p:sp>
        <p:nvSpPr>
          <p:cNvPr id="5" name="Subtitle"/>
          <p:cNvSpPr txBox="1"/>
          <p:nvPr/>
        </p:nvSpPr>
        <p:spPr>
          <a:xfrm>
            <a:off x="3200400" y="841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שלבים, מהתהליך אל התוצר</a:t>
            </a:r>
            <a:endParaRPr lang="he-IL" sz="1400" dirty="0"/>
          </a:p>
        </p:txBody>
      </p:sp>
      <p:sp>
        <p:nvSpPr>
          <p:cNvPr id="6" name="Track"/>
          <p:cNvSpPr/>
          <p:nvPr/>
        </p:nvSpPr>
        <p:spPr>
          <a:xfrm>
            <a:off x="548640" y="1783080"/>
            <a:ext cx="8138160" cy="0"/>
          </a:xfrm>
          <a:prstGeom prst="line">
            <a:avLst/>
          </a:prstGeom>
          <a:noFill/>
          <a:ln w="88900">
            <a:solidFill>
              <a:srgbClr val="E6DAEE"/>
            </a:solidFill>
            <a:prstDash val="solid"/>
          </a:ln>
        </p:spPr>
      </p:sp>
      <p:sp>
        <p:nvSpPr>
          <p:cNvPr id="7" name="StartDot"/>
          <p:cNvSpPr/>
          <p:nvPr/>
        </p:nvSpPr>
        <p:spPr>
          <a:xfrm>
            <a:off x="8604504" y="170078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E3A94"/>
            </a:solidFill>
            <a:prstDash val="solid"/>
          </a:ln>
        </p:spPr>
      </p:sp>
      <p:sp>
        <p:nvSpPr>
          <p:cNvPr id="8" name="Seg1"/>
          <p:cNvSpPr/>
          <p:nvPr/>
        </p:nvSpPr>
        <p:spPr>
          <a:xfrm>
            <a:off x="7429500" y="1783080"/>
            <a:ext cx="1257300" cy="0"/>
          </a:xfrm>
          <a:prstGeom prst="line">
            <a:avLst/>
          </a:prstGeom>
          <a:noFill/>
          <a:ln w="31750">
            <a:solidFill>
              <a:srgbClr val="7E3A94"/>
            </a:solidFill>
            <a:prstDash val="dash"/>
          </a:ln>
        </p:spPr>
      </p:sp>
      <p:sp>
        <p:nvSpPr>
          <p:cNvPr id="9" name="Seg2"/>
          <p:cNvSpPr/>
          <p:nvPr/>
        </p:nvSpPr>
        <p:spPr>
          <a:xfrm>
            <a:off x="4759452" y="1783080"/>
            <a:ext cx="2670048" cy="0"/>
          </a:xfrm>
          <a:prstGeom prst="line">
            <a:avLst/>
          </a:prstGeom>
          <a:noFill/>
          <a:ln w="31750">
            <a:solidFill>
              <a:srgbClr val="7E3A94"/>
            </a:solidFill>
            <a:prstDash val="dash"/>
          </a:ln>
        </p:spPr>
      </p:sp>
      <p:sp>
        <p:nvSpPr>
          <p:cNvPr id="10" name="Seg3"/>
          <p:cNvSpPr/>
          <p:nvPr/>
        </p:nvSpPr>
        <p:spPr>
          <a:xfrm>
            <a:off x="2089404" y="1783080"/>
            <a:ext cx="2670048" cy="0"/>
          </a:xfrm>
          <a:prstGeom prst="line">
            <a:avLst/>
          </a:prstGeom>
          <a:noFill/>
          <a:ln w="31750">
            <a:solidFill>
              <a:srgbClr val="7E3A94"/>
            </a:solidFill>
            <a:prstDash val="dash"/>
          </a:ln>
        </p:spPr>
      </p:sp>
      <p:sp>
        <p:nvSpPr>
          <p:cNvPr id="11" name="Seg4"/>
          <p:cNvSpPr/>
          <p:nvPr/>
        </p:nvSpPr>
        <p:spPr>
          <a:xfrm>
            <a:off x="548640" y="1783080"/>
            <a:ext cx="1540764" cy="0"/>
          </a:xfrm>
          <a:prstGeom prst="line">
            <a:avLst/>
          </a:prstGeom>
          <a:noFill/>
          <a:ln w="31750">
            <a:solidFill>
              <a:srgbClr val="7E3A94"/>
            </a:solidFill>
            <a:prstDash val="dash"/>
            <a:headEnd type="triangle"/>
          </a:ln>
        </p:spPr>
      </p:sp>
      <p:sp>
        <p:nvSpPr>
          <p:cNvPr id="12" name="Marker1"/>
          <p:cNvSpPr/>
          <p:nvPr/>
        </p:nvSpPr>
        <p:spPr>
          <a:xfrm>
            <a:off x="8567928" y="1664208"/>
            <a:ext cx="237744" cy="237744"/>
          </a:xfrm>
          <a:prstGeom prst="diamond">
            <a:avLst/>
          </a:prstGeom>
          <a:solidFill>
            <a:srgbClr val="F9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Marker2"/>
          <p:cNvSpPr/>
          <p:nvPr/>
        </p:nvSpPr>
        <p:spPr>
          <a:xfrm>
            <a:off x="7310628" y="1664208"/>
            <a:ext cx="237744" cy="237744"/>
          </a:xfrm>
          <a:prstGeom prst="diamond">
            <a:avLst/>
          </a:prstGeom>
          <a:solidFill>
            <a:srgbClr val="F9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Marker3"/>
          <p:cNvSpPr/>
          <p:nvPr/>
        </p:nvSpPr>
        <p:spPr>
          <a:xfrm>
            <a:off x="4640580" y="1664208"/>
            <a:ext cx="237744" cy="237744"/>
          </a:xfrm>
          <a:prstGeom prst="diamond">
            <a:avLst/>
          </a:prstGeom>
          <a:solidFill>
            <a:srgbClr val="F9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Marker4"/>
          <p:cNvSpPr/>
          <p:nvPr/>
        </p:nvSpPr>
        <p:spPr>
          <a:xfrm>
            <a:off x="1970532" y="1664208"/>
            <a:ext cx="237744" cy="237744"/>
          </a:xfrm>
          <a:prstGeom prst="diamond">
            <a:avLst/>
          </a:prstGeom>
          <a:solidFill>
            <a:srgbClr val="F9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rd1"/>
          <p:cNvSpPr txBox="1"/>
          <p:nvPr/>
        </p:nvSpPr>
        <p:spPr>
          <a:xfrm>
            <a:off x="6172200" y="22402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2EAF6"/>
          </a:solidFill>
          <a:ln/>
        </p:spPr>
        <p:txBody>
          <a:bodyPr wrap="square" lIns="177800" tIns="203200" rIns="203200" bIns="127000" rtlCol="0" anchor="t"/>
          <a:lstStyle/>
          <a:p>
            <a:pPr rtl="1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he-IL" altLang="en-US" sz="1900" b="1" dirty="0">
                <a:solidFill>
                  <a:srgbClr val="4A2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מילה נבנית?</a:t>
            </a:r>
            <a:endParaRPr lang="he-IL" sz="19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חומסקי, פיאז'ה וויגוצקי: מה הילד מביא, מה הוא בונה ומה הסביבה מתווכת</a:t>
            </a:r>
            <a:endParaRPr lang="he-IL" sz="1900" dirty="0"/>
          </a:p>
        </p:txBody>
      </p:sp>
      <p:sp>
        <p:nvSpPr>
          <p:cNvPr id="17" name="Circle1"/>
          <p:cNvSpPr/>
          <p:nvPr/>
        </p:nvSpPr>
        <p:spPr>
          <a:xfrm>
            <a:off x="7146036" y="1499616"/>
            <a:ext cx="566928" cy="566928"/>
          </a:xfrm>
          <a:prstGeom prst="ellipse">
            <a:avLst/>
          </a:prstGeom>
          <a:solidFill>
            <a:srgbClr val="7E3A94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Card2"/>
          <p:cNvSpPr txBox="1"/>
          <p:nvPr/>
        </p:nvSpPr>
        <p:spPr>
          <a:xfrm>
            <a:off x="3502152" y="22402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AF0E3"/>
          </a:solidFill>
          <a:ln/>
        </p:spPr>
        <p:txBody>
          <a:bodyPr wrap="square" lIns="177800" tIns="203200" rIns="203200" bIns="127000" rtlCol="0" anchor="t"/>
          <a:lstStyle/>
          <a:p>
            <a:pPr rtl="1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he-IL" altLang="en-US" sz="1900" b="1" dirty="0">
                <a:solidFill>
                  <a:srgbClr val="4A2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לדעת מילה?</a:t>
            </a:r>
            <a:endParaRPr lang="he-IL" sz="19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ידיעה כרצף, היבטי הידיעה, קולטני ויצרני, רוחב ועומק, המילון כרשת והשורש העברי</a:t>
            </a:r>
            <a:endParaRPr lang="he-IL" sz="1900" dirty="0"/>
          </a:p>
        </p:txBody>
      </p:sp>
      <p:sp>
        <p:nvSpPr>
          <p:cNvPr id="19" name="Circle2"/>
          <p:cNvSpPr/>
          <p:nvPr/>
        </p:nvSpPr>
        <p:spPr>
          <a:xfrm>
            <a:off x="4475988" y="1499616"/>
            <a:ext cx="566928" cy="566928"/>
          </a:xfrm>
          <a:prstGeom prst="ellipse">
            <a:avLst/>
          </a:prstGeom>
          <a:solidFill>
            <a:srgbClr val="F9A93B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ard3"/>
          <p:cNvSpPr txBox="1"/>
          <p:nvPr/>
        </p:nvSpPr>
        <p:spPr>
          <a:xfrm>
            <a:off x="832104" y="22402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2EAF6"/>
          </a:solidFill>
          <a:ln/>
        </p:spPr>
        <p:txBody>
          <a:bodyPr wrap="square" lIns="177800" tIns="203200" rIns="203200" bIns="127000" rtlCol="0" anchor="t"/>
          <a:lstStyle/>
          <a:p>
            <a:pPr rtl="1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he-IL" altLang="en-US" sz="1900" b="1" dirty="0">
                <a:solidFill>
                  <a:srgbClr val="4A2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משנה?</a:t>
            </a:r>
            <a:endParaRPr lang="he-IL" sz="19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הצצה לקשר עם הקריאה ולפערים בין ילדים, שבהם נעסוק במפגשים הבאים</a:t>
            </a:r>
            <a:endParaRPr lang="he-IL" sz="1900" dirty="0"/>
          </a:p>
        </p:txBody>
      </p:sp>
      <p:sp>
        <p:nvSpPr>
          <p:cNvPr id="21" name="Circle3"/>
          <p:cNvSpPr/>
          <p:nvPr/>
        </p:nvSpPr>
        <p:spPr>
          <a:xfrm>
            <a:off x="1805940" y="1499616"/>
            <a:ext cx="566928" cy="566928"/>
          </a:xfrm>
          <a:prstGeom prst="ellipse">
            <a:avLst/>
          </a:prstGeom>
          <a:solidFill>
            <a:srgbClr val="7E3A94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Footer"/>
          <p:cNvSpPr txBox="1"/>
          <p:nvPr/>
        </p:nvSpPr>
        <p:spPr>
          <a:xfrm>
            <a:off x="54864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7E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בסוף המפגש: </a:t>
            </a:r>
            <a:pPr rtl="1" algn="r" indent="0" marL="0">
              <a:buNone/>
            </a:pPr>
            <a:r>
              <a:rPr lang="he-IL" alt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 בפורום וכלי לשימוש בכיתה, בדיקת הבנה</a:t>
            </a:r>
            <a:endParaRPr lang="he-IL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3750 0 E" pathEditMode="relative" ptsTypes="AA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963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200 0 E" pathEditMode="relative" ptsTypes="AA">
                                      <p:cBhvr>
                                        <p:cTn id="42" dur="963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63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963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200 0 E" pathEditMode="relative" ptsTypes="AA">
                                      <p:cBhvr>
                                        <p:cTn id="62" dur="963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63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56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50 0 E" pathEditMode="relative" ptsTypes="AA">
                                      <p:cBhvr>
                                        <p:cTn id="82" dur="556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56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 animBg="1"/>
      <p:bldP spid="18" grpId="0" animBg="1"/>
      <p:bldP spid="20" grpId="0" animBg="1"/>
      <p:bldP spid="17" grpId="0" animBg="1"/>
      <p:bldP spid="19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מסלול המפגש</dc:title>
  <dc:subject>PptxGenJS Presentation</dc:subject>
  <dc:creator>PptxGenJS</dc:creator>
  <cp:lastModifiedBy>PptxGenJS</cp:lastModifiedBy>
  <cp:revision>1</cp:revision>
  <dcterms:created xsi:type="dcterms:W3CDTF">2026-10-22T08:15:44Z</dcterms:created>
  <dcterms:modified xsi:type="dcterms:W3CDTF">2026-10-22T08:15:44Z</dcterms:modified>
</cp:coreProperties>
</file>